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8" r:id="rId9"/>
    <p:sldId id="267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896" autoAdjust="0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8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829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0">
            <a:extLst>
              <a:ext uri="{FF2B5EF4-FFF2-40B4-BE49-F238E27FC236}">
                <a16:creationId xmlns:a16="http://schemas.microsoft.com/office/drawing/2014/main" id="{2BD26DD0-A441-CDA1-C7C4-500C0B482AE4}"/>
              </a:ext>
            </a:extLst>
          </p:cNvPr>
          <p:cNvSpPr/>
          <p:nvPr userDrawn="1"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0" descr="preencoded.png">
            <a:extLst>
              <a:ext uri="{FF2B5EF4-FFF2-40B4-BE49-F238E27FC236}">
                <a16:creationId xmlns:a16="http://schemas.microsoft.com/office/drawing/2014/main" id="{9C02DD19-DD7E-1634-0056-B0B673F640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5" name="Shape 1">
            <a:extLst>
              <a:ext uri="{FF2B5EF4-FFF2-40B4-BE49-F238E27FC236}">
                <a16:creationId xmlns:a16="http://schemas.microsoft.com/office/drawing/2014/main" id="{2896CD82-D6A3-3A0B-5BEE-489BF15E90F1}"/>
              </a:ext>
            </a:extLst>
          </p:cNvPr>
          <p:cNvSpPr/>
          <p:nvPr userDrawn="1"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7" name="Image 2" descr="preencoded.png">
            <a:extLst>
              <a:ext uri="{FF2B5EF4-FFF2-40B4-BE49-F238E27FC236}">
                <a16:creationId xmlns:a16="http://schemas.microsoft.com/office/drawing/2014/main" id="{FE4B1F73-561B-DEF0-4566-CD62949472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pic>
        <p:nvPicPr>
          <p:cNvPr id="282" name="Picture 281">
            <a:extLst>
              <a:ext uri="{FF2B5EF4-FFF2-40B4-BE49-F238E27FC236}">
                <a16:creationId xmlns:a16="http://schemas.microsoft.com/office/drawing/2014/main" id="{BD66A30C-A2DE-61B6-8B7B-4CF622680E5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58356" y="381305"/>
            <a:ext cx="5745480" cy="46736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.png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.png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.png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jpe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.png"/><Relationship Id="rId10" Type="http://schemas.openxmlformats.org/officeDocument/2006/relationships/image" Target="../media/image8.png"/><Relationship Id="rId4" Type="http://schemas.openxmlformats.org/officeDocument/2006/relationships/image" Target="../media/image11.jpe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jpe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0" Type="http://schemas.openxmlformats.org/officeDocument/2006/relationships/image" Target="../media/image10.png"/><Relationship Id="rId4" Type="http://schemas.openxmlformats.org/officeDocument/2006/relationships/image" Target="../media/image11.jpeg"/><Relationship Id="rId9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jpe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0" Type="http://schemas.openxmlformats.org/officeDocument/2006/relationships/image" Target="../media/image10.png"/><Relationship Id="rId4" Type="http://schemas.openxmlformats.org/officeDocument/2006/relationships/image" Target="../media/image11.jpeg"/><Relationship Id="rId9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jpe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.png"/><Relationship Id="rId4" Type="http://schemas.openxmlformats.org/officeDocument/2006/relationships/image" Target="../media/image11.jpe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143000"/>
            <a:ext cx="47549" cy="276149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3"/>
          <p:cNvSpPr/>
          <p:nvPr/>
        </p:nvSpPr>
        <p:spPr>
          <a:xfrm>
            <a:off x="9182405" y="1170432"/>
            <a:ext cx="2438705" cy="362102"/>
          </a:xfrm>
          <a:prstGeom prst="roundRect">
            <a:avLst>
              <a:gd name="adj" fmla="val 2658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4"/>
          <p:cNvSpPr/>
          <p:nvPr/>
        </p:nvSpPr>
        <p:spPr>
          <a:xfrm>
            <a:off x="571500" y="1712671"/>
            <a:ext cx="11048695" cy="2171700"/>
          </a:xfrm>
          <a:prstGeom prst="roundRect">
            <a:avLst>
              <a:gd name="adj" fmla="val 2216"/>
            </a:avLst>
          </a:prstGeom>
          <a:solidFill>
            <a:srgbClr val="273383">
              <a:alpha val="3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  <a:effectLst>
            <a:outerShdw blurRad="190500" dist="1016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80644" y="1721815"/>
            <a:ext cx="110459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684325" y="1721815"/>
            <a:ext cx="221010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3889858" y="1721815"/>
            <a:ext cx="441929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8301838" y="1721815"/>
            <a:ext cx="3314700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580644" y="2604211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1684325" y="2604211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3889858" y="2604211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8301838" y="2604211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3"/>
          <p:cNvSpPr/>
          <p:nvPr/>
        </p:nvSpPr>
        <p:spPr>
          <a:xfrm>
            <a:off x="580644" y="2606954"/>
            <a:ext cx="11030407" cy="4572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580644" y="3055010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1684325" y="3055010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3889858" y="3055010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8301838" y="3055010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580644" y="3510382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1684325" y="3510382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3889858" y="3510382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8301838" y="3510382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2"/>
          <p:cNvSpPr/>
          <p:nvPr/>
        </p:nvSpPr>
        <p:spPr>
          <a:xfrm>
            <a:off x="580644" y="3517697"/>
            <a:ext cx="11030407" cy="4572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1500" y="4151376"/>
            <a:ext cx="133502" cy="13350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80898" y="4120286"/>
            <a:ext cx="55741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team can have up to 4 members including the team leader. Add rows if necessary.</a:t>
            </a:r>
            <a:endParaRPr lang="en-US" sz="1000" b="1" dirty="0"/>
          </a:p>
        </p:txBody>
      </p:sp>
      <p:sp>
        <p:nvSpPr>
          <p:cNvPr id="30" name="Shape 24"/>
          <p:cNvSpPr/>
          <p:nvPr/>
        </p:nvSpPr>
        <p:spPr>
          <a:xfrm>
            <a:off x="571500" y="4543654"/>
            <a:ext cx="11048695" cy="2029054"/>
          </a:xfrm>
          <a:prstGeom prst="roundRect">
            <a:avLst>
              <a:gd name="adj" fmla="val 253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5"/>
          <p:cNvSpPr/>
          <p:nvPr/>
        </p:nvSpPr>
        <p:spPr>
          <a:xfrm>
            <a:off x="771754" y="5048402"/>
            <a:ext cx="10649102" cy="437998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6"/>
          <p:cNvSpPr/>
          <p:nvPr/>
        </p:nvSpPr>
        <p:spPr>
          <a:xfrm>
            <a:off x="771754" y="5934456"/>
            <a:ext cx="5229454" cy="437998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7"/>
          <p:cNvSpPr/>
          <p:nvPr/>
        </p:nvSpPr>
        <p:spPr>
          <a:xfrm>
            <a:off x="6191402" y="5934456"/>
            <a:ext cx="5229454" cy="437998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28"/>
          <p:cNvSpPr txBox="1"/>
          <p:nvPr/>
        </p:nvSpPr>
        <p:spPr>
          <a:xfrm>
            <a:off x="761695" y="1086307"/>
            <a:ext cx="205374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Details</a:t>
            </a:r>
            <a:endParaRPr lang="en-US" sz="2100" dirty="0"/>
          </a:p>
        </p:txBody>
      </p:sp>
      <p:sp>
        <p:nvSpPr>
          <p:cNvPr id="35" name="Text 29"/>
          <p:cNvSpPr txBox="1"/>
          <p:nvPr/>
        </p:nvSpPr>
        <p:spPr>
          <a:xfrm>
            <a:off x="8076895" y="1237183"/>
            <a:ext cx="11055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Name:</a:t>
            </a:r>
            <a:endParaRPr lang="en-US" sz="1200" dirty="0"/>
          </a:p>
        </p:txBody>
      </p:sp>
      <p:sp>
        <p:nvSpPr>
          <p:cNvPr id="36" name="Text 30"/>
          <p:cNvSpPr txBox="1"/>
          <p:nvPr/>
        </p:nvSpPr>
        <p:spPr>
          <a:xfrm>
            <a:off x="771754" y="1836115"/>
            <a:ext cx="59893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SR. NO</a:t>
            </a:r>
            <a:endParaRPr lang="en-US" sz="1000" dirty="0"/>
          </a:p>
        </p:txBody>
      </p:sp>
      <p:sp>
        <p:nvSpPr>
          <p:cNvPr id="37" name="Text 31"/>
          <p:cNvSpPr txBox="1"/>
          <p:nvPr/>
        </p:nvSpPr>
        <p:spPr>
          <a:xfrm>
            <a:off x="1874520" y="1836115"/>
            <a:ext cx="465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</a:t>
            </a:r>
            <a:endParaRPr lang="en-US" sz="1000" dirty="0"/>
          </a:p>
        </p:txBody>
      </p:sp>
      <p:sp>
        <p:nvSpPr>
          <p:cNvPr id="38" name="Text 32"/>
          <p:cNvSpPr txBox="1"/>
          <p:nvPr/>
        </p:nvSpPr>
        <p:spPr>
          <a:xfrm>
            <a:off x="4080053" y="1836115"/>
            <a:ext cx="53218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NAME</a:t>
            </a:r>
            <a:endParaRPr lang="en-US" sz="1000" dirty="0"/>
          </a:p>
        </p:txBody>
      </p:sp>
      <p:sp>
        <p:nvSpPr>
          <p:cNvPr id="39" name="Text 33"/>
          <p:cNvSpPr txBox="1"/>
          <p:nvPr/>
        </p:nvSpPr>
        <p:spPr>
          <a:xfrm>
            <a:off x="8492033" y="1836115"/>
            <a:ext cx="13130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ACADEMIC YEAR</a:t>
            </a:r>
            <a:endParaRPr lang="en-US" sz="1000" dirty="0"/>
          </a:p>
        </p:txBody>
      </p:sp>
      <p:sp>
        <p:nvSpPr>
          <p:cNvPr id="40" name="Text 34"/>
          <p:cNvSpPr txBox="1"/>
          <p:nvPr/>
        </p:nvSpPr>
        <p:spPr>
          <a:xfrm>
            <a:off x="771754" y="2270455"/>
            <a:ext cx="1563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100" dirty="0"/>
          </a:p>
        </p:txBody>
      </p:sp>
      <p:sp>
        <p:nvSpPr>
          <p:cNvPr id="41" name="Text 35"/>
          <p:cNvSpPr txBox="1"/>
          <p:nvPr/>
        </p:nvSpPr>
        <p:spPr>
          <a:xfrm>
            <a:off x="1874520" y="2270455"/>
            <a:ext cx="10707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</a:t>
            </a:r>
            <a:endParaRPr lang="en-US" sz="1100" dirty="0"/>
          </a:p>
        </p:txBody>
      </p:sp>
      <p:sp>
        <p:nvSpPr>
          <p:cNvPr id="42" name="Text 36"/>
          <p:cNvSpPr txBox="1"/>
          <p:nvPr/>
        </p:nvSpPr>
        <p:spPr>
          <a:xfrm>
            <a:off x="771754" y="2725826"/>
            <a:ext cx="19476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100" dirty="0"/>
          </a:p>
        </p:txBody>
      </p:sp>
      <p:sp>
        <p:nvSpPr>
          <p:cNvPr id="43" name="Text 37"/>
          <p:cNvSpPr txBox="1"/>
          <p:nvPr/>
        </p:nvSpPr>
        <p:spPr>
          <a:xfrm>
            <a:off x="1874520" y="2725826"/>
            <a:ext cx="8046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Member 1</a:t>
            </a:r>
            <a:endParaRPr lang="en-US" sz="1100" dirty="0"/>
          </a:p>
        </p:txBody>
      </p:sp>
      <p:sp>
        <p:nvSpPr>
          <p:cNvPr id="44" name="Text 38"/>
          <p:cNvSpPr txBox="1"/>
          <p:nvPr/>
        </p:nvSpPr>
        <p:spPr>
          <a:xfrm>
            <a:off x="771754" y="3181198"/>
            <a:ext cx="19476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100" dirty="0"/>
          </a:p>
        </p:txBody>
      </p:sp>
      <p:sp>
        <p:nvSpPr>
          <p:cNvPr id="45" name="Text 39"/>
          <p:cNvSpPr txBox="1"/>
          <p:nvPr/>
        </p:nvSpPr>
        <p:spPr>
          <a:xfrm>
            <a:off x="1874520" y="3181198"/>
            <a:ext cx="8421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Member 2</a:t>
            </a:r>
            <a:endParaRPr lang="en-US" sz="1100" dirty="0"/>
          </a:p>
        </p:txBody>
      </p:sp>
      <p:sp>
        <p:nvSpPr>
          <p:cNvPr id="46" name="Text 40"/>
          <p:cNvSpPr txBox="1"/>
          <p:nvPr/>
        </p:nvSpPr>
        <p:spPr>
          <a:xfrm>
            <a:off x="771754" y="3636569"/>
            <a:ext cx="2039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100" dirty="0"/>
          </a:p>
        </p:txBody>
      </p:sp>
      <p:sp>
        <p:nvSpPr>
          <p:cNvPr id="47" name="Text 41"/>
          <p:cNvSpPr txBox="1"/>
          <p:nvPr/>
        </p:nvSpPr>
        <p:spPr>
          <a:xfrm>
            <a:off x="1874520" y="3636569"/>
            <a:ext cx="8421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Member 3</a:t>
            </a:r>
            <a:endParaRPr lang="en-US" sz="1100" dirty="0"/>
          </a:p>
        </p:txBody>
      </p:sp>
      <p:pic>
        <p:nvPicPr>
          <p:cNvPr id="48" name="Image 4" descr="preencoded.png"/>
          <p:cNvPicPr>
            <a:picLocks noChangeAspect="1"/>
          </p:cNvPicPr>
          <p:nvPr/>
        </p:nvPicPr>
        <p:blipFill>
          <a:blip r:embed="rId5"/>
          <a:srcRect l="-2994" r="-2994"/>
          <a:stretch/>
        </p:blipFill>
        <p:spPr>
          <a:xfrm>
            <a:off x="771754" y="4772254"/>
            <a:ext cx="161849" cy="152705"/>
          </a:xfrm>
          <a:prstGeom prst="rect">
            <a:avLst/>
          </a:prstGeom>
        </p:spPr>
      </p:pic>
      <p:sp>
        <p:nvSpPr>
          <p:cNvPr id="49" name="Text 42"/>
          <p:cNvSpPr txBox="1"/>
          <p:nvPr/>
        </p:nvSpPr>
        <p:spPr>
          <a:xfrm>
            <a:off x="1009498" y="4743907"/>
            <a:ext cx="13432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COLLEGE NAME</a:t>
            </a:r>
            <a:endParaRPr lang="en-US" sz="1200" dirty="0"/>
          </a:p>
        </p:txBody>
      </p:sp>
      <p:pic>
        <p:nvPicPr>
          <p:cNvPr id="50" name="Image 5" descr="preencoded.png"/>
          <p:cNvPicPr>
            <a:picLocks noChangeAspect="1"/>
          </p:cNvPicPr>
          <p:nvPr/>
        </p:nvPicPr>
        <p:blipFill>
          <a:blip r:embed="rId6"/>
          <a:srcRect l="-2994" r="-2994"/>
          <a:stretch/>
        </p:blipFill>
        <p:spPr>
          <a:xfrm>
            <a:off x="771754" y="5658307"/>
            <a:ext cx="161849" cy="152705"/>
          </a:xfrm>
          <a:prstGeom prst="rect">
            <a:avLst/>
          </a:prstGeom>
        </p:spPr>
      </p:pic>
      <p:sp>
        <p:nvSpPr>
          <p:cNvPr id="51" name="Text 43"/>
          <p:cNvSpPr txBox="1"/>
          <p:nvPr/>
        </p:nvSpPr>
        <p:spPr>
          <a:xfrm>
            <a:off x="1009498" y="5629046"/>
            <a:ext cx="27724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 CONTACT NUMBER</a:t>
            </a:r>
            <a:endParaRPr lang="en-US" sz="1200" dirty="0"/>
          </a:p>
        </p:txBody>
      </p:sp>
      <p:pic>
        <p:nvPicPr>
          <p:cNvPr id="52" name="Image 6" descr="preencoded.png"/>
          <p:cNvPicPr>
            <a:picLocks noChangeAspect="1"/>
          </p:cNvPicPr>
          <p:nvPr/>
        </p:nvPicPr>
        <p:blipFill>
          <a:blip r:embed="rId7"/>
          <a:srcRect l="-2994" r="-2994"/>
          <a:stretch/>
        </p:blipFill>
        <p:spPr>
          <a:xfrm>
            <a:off x="6191402" y="5658307"/>
            <a:ext cx="161849" cy="152705"/>
          </a:xfrm>
          <a:prstGeom prst="rect">
            <a:avLst/>
          </a:prstGeom>
        </p:spPr>
      </p:pic>
      <p:sp>
        <p:nvSpPr>
          <p:cNvPr id="53" name="Text 44"/>
          <p:cNvSpPr txBox="1"/>
          <p:nvPr/>
        </p:nvSpPr>
        <p:spPr>
          <a:xfrm>
            <a:off x="6429146" y="562904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 EMAIL ADDRESS</a:t>
            </a:r>
            <a:endParaRPr lang="en-US" sz="1200" dirty="0"/>
          </a:p>
        </p:txBody>
      </p:sp>
      <p:sp>
        <p:nvSpPr>
          <p:cNvPr id="54" name="Text 45"/>
          <p:cNvSpPr txBox="1"/>
          <p:nvPr/>
        </p:nvSpPr>
        <p:spPr>
          <a:xfrm>
            <a:off x="9344254" y="1256386"/>
            <a:ext cx="17199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cs typeface="Poppins" pitchFamily="34" charset="-120"/>
              </a:rPr>
              <a:t>Team Titans</a:t>
            </a:r>
          </a:p>
        </p:txBody>
      </p:sp>
      <p:sp>
        <p:nvSpPr>
          <p:cNvPr id="55" name="Text 46"/>
          <p:cNvSpPr txBox="1"/>
          <p:nvPr/>
        </p:nvSpPr>
        <p:spPr>
          <a:xfrm>
            <a:off x="4080053" y="2337205"/>
            <a:ext cx="1483349" cy="133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 err="1">
                <a:solidFill>
                  <a:srgbClr val="E0E0E0">
                    <a:alpha val="50000"/>
                  </a:srgbClr>
                </a:solidFill>
                <a:latin typeface="Poppins" pitchFamily="34" charset="0"/>
                <a:cs typeface="Poppins" pitchFamily="34" charset="-120"/>
              </a:rPr>
              <a:t>Noopa</a:t>
            </a: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cs typeface="Poppins" pitchFamily="34" charset="-120"/>
              </a:rPr>
              <a:t> Maria Rojan</a:t>
            </a:r>
            <a:endParaRPr lang="en-US" sz="1100" dirty="0"/>
          </a:p>
        </p:txBody>
      </p:sp>
      <p:sp>
        <p:nvSpPr>
          <p:cNvPr id="56" name="Text 47"/>
          <p:cNvSpPr txBox="1"/>
          <p:nvPr/>
        </p:nvSpPr>
        <p:spPr>
          <a:xfrm>
            <a:off x="8492033" y="2270455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cs typeface="Poppins" pitchFamily="34" charset="-120"/>
              </a:rPr>
              <a:t>Final Year</a:t>
            </a:r>
          </a:p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cs typeface="Poppins" pitchFamily="34" charset="-120"/>
              </a:rPr>
              <a:t>(2026-2027)</a:t>
            </a:r>
            <a:endParaRPr lang="en-US" sz="1100" dirty="0"/>
          </a:p>
        </p:txBody>
      </p:sp>
      <p:sp>
        <p:nvSpPr>
          <p:cNvPr id="57" name="Text 48"/>
          <p:cNvSpPr txBox="1"/>
          <p:nvPr/>
        </p:nvSpPr>
        <p:spPr>
          <a:xfrm>
            <a:off x="4080053" y="2725826"/>
            <a:ext cx="10899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Anna Boban</a:t>
            </a:r>
            <a:endParaRPr lang="en-US" sz="1100" dirty="0"/>
          </a:p>
        </p:txBody>
      </p:sp>
      <p:sp>
        <p:nvSpPr>
          <p:cNvPr id="58" name="Text 49"/>
          <p:cNvSpPr txBox="1"/>
          <p:nvPr/>
        </p:nvSpPr>
        <p:spPr>
          <a:xfrm>
            <a:off x="8492033" y="2725826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Final Year</a:t>
            </a:r>
          </a:p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cs typeface="Poppins" pitchFamily="34" charset="-120"/>
              </a:rPr>
              <a:t>(2026-2027)</a:t>
            </a:r>
            <a:endParaRPr lang="en-US" sz="1100" dirty="0"/>
          </a:p>
        </p:txBody>
      </p:sp>
      <p:sp>
        <p:nvSpPr>
          <p:cNvPr id="59" name="Text 50"/>
          <p:cNvSpPr txBox="1"/>
          <p:nvPr/>
        </p:nvSpPr>
        <p:spPr>
          <a:xfrm>
            <a:off x="4080053" y="3181198"/>
            <a:ext cx="10899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cs typeface="Poppins" pitchFamily="34" charset="-120"/>
              </a:rPr>
              <a:t>Haya KT</a:t>
            </a:r>
            <a:endParaRPr lang="en-US" sz="1100" dirty="0"/>
          </a:p>
        </p:txBody>
      </p:sp>
      <p:sp>
        <p:nvSpPr>
          <p:cNvPr id="60" name="Text 51"/>
          <p:cNvSpPr txBox="1"/>
          <p:nvPr/>
        </p:nvSpPr>
        <p:spPr>
          <a:xfrm>
            <a:off x="8492033" y="3181198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00" i="1" dirty="0">
              <a:solidFill>
                <a:srgbClr val="E0E0E0">
                  <a:alpha val="5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Final Year</a:t>
            </a:r>
          </a:p>
          <a:p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cs typeface="Poppins" pitchFamily="34" charset="-120"/>
              </a:rPr>
              <a:t>(2026-2027)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61" name="Text 52"/>
          <p:cNvSpPr txBox="1"/>
          <p:nvPr/>
        </p:nvSpPr>
        <p:spPr>
          <a:xfrm>
            <a:off x="4080053" y="3636569"/>
            <a:ext cx="10899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cs typeface="Poppins" pitchFamily="34" charset="-120"/>
              </a:rPr>
              <a:t>Nivya Mathew</a:t>
            </a:r>
            <a:endParaRPr lang="en-US" sz="1100" dirty="0"/>
          </a:p>
        </p:txBody>
      </p:sp>
      <p:sp>
        <p:nvSpPr>
          <p:cNvPr id="62" name="Text 53"/>
          <p:cNvSpPr txBox="1"/>
          <p:nvPr/>
        </p:nvSpPr>
        <p:spPr>
          <a:xfrm>
            <a:off x="8492033" y="3617799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00" i="1" dirty="0">
              <a:solidFill>
                <a:srgbClr val="E0E0E0">
                  <a:alpha val="50000"/>
                </a:srgb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Final Year</a:t>
            </a:r>
          </a:p>
          <a:p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cs typeface="Poppins" pitchFamily="34" charset="-120"/>
              </a:rPr>
              <a:t>(2026-2027)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63" name="Text 54"/>
          <p:cNvSpPr txBox="1"/>
          <p:nvPr/>
        </p:nvSpPr>
        <p:spPr>
          <a:xfrm>
            <a:off x="923543" y="5222139"/>
            <a:ext cx="2772557" cy="69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 err="1">
                <a:solidFill>
                  <a:srgbClr val="FFFFFF">
                    <a:alpha val="50000"/>
                  </a:srgbClr>
                </a:solidFill>
                <a:latin typeface="Poppins" pitchFamily="34" charset="0"/>
                <a:cs typeface="Poppins" pitchFamily="34" charset="-120"/>
              </a:rPr>
              <a:t>Saintgits</a:t>
            </a: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Poppins" pitchFamily="34" charset="0"/>
                <a:cs typeface="Poppins" pitchFamily="34" charset="-120"/>
              </a:rPr>
              <a:t> College Of Engineering</a:t>
            </a:r>
            <a:endParaRPr lang="en-US" sz="1200" dirty="0"/>
          </a:p>
        </p:txBody>
      </p:sp>
      <p:sp>
        <p:nvSpPr>
          <p:cNvPr id="64" name="Text 55"/>
          <p:cNvSpPr txBox="1"/>
          <p:nvPr/>
        </p:nvSpPr>
        <p:spPr>
          <a:xfrm>
            <a:off x="923544" y="6038698"/>
            <a:ext cx="15343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+91 70257 00386</a:t>
            </a:r>
            <a:endParaRPr lang="en-US" sz="1200" dirty="0"/>
          </a:p>
        </p:txBody>
      </p:sp>
      <p:sp>
        <p:nvSpPr>
          <p:cNvPr id="65" name="Text 56"/>
          <p:cNvSpPr txBox="1"/>
          <p:nvPr/>
        </p:nvSpPr>
        <p:spPr>
          <a:xfrm>
            <a:off x="6363357" y="6038698"/>
            <a:ext cx="319452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noopamariarojan@gmail.com</a:t>
            </a:r>
            <a:endParaRPr lang="en-US" sz="1200" dirty="0"/>
          </a:p>
        </p:txBody>
      </p:sp>
      <p:sp>
        <p:nvSpPr>
          <p:cNvPr id="70" name="Shape 1">
            <a:extLst>
              <a:ext uri="{FF2B5EF4-FFF2-40B4-BE49-F238E27FC236}">
                <a16:creationId xmlns:a16="http://schemas.microsoft.com/office/drawing/2014/main" id="{780937B3-EB04-4CBA-C636-AF115BC1E358}"/>
              </a:ext>
            </a:extLst>
          </p:cNvPr>
          <p:cNvSpPr/>
          <p:nvPr/>
        </p:nvSpPr>
        <p:spPr>
          <a:xfrm>
            <a:off x="562356" y="13807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67FE6B-8CE4-2744-DE3C-E456350E62E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957" y="27370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554766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 Statement Addressed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33856" y="2583180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93085"/>
            <a:ext cx="62773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EFF82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Selected the problem statement your idea addresses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961949" y="3768242"/>
            <a:ext cx="10267798" cy="1276502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200607" y="4006901"/>
            <a:ext cx="16907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DESCRIPTION / DETAILS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200607" y="4283050"/>
            <a:ext cx="896843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Applied Materials PS02: AI-powered navigation-error recovery for wafer inspection tools — restoring exact microscopic site alignment despite motion-stage drift, thermal expansion, and vibration errors.</a:t>
            </a:r>
            <a:endParaRPr lang="en-US" sz="13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9F13985-00B4-3FE2-69FB-BA5F884201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2164" y="228650"/>
            <a:ext cx="1607366" cy="783591"/>
          </a:xfrm>
          <a:prstGeom prst="rect">
            <a:avLst/>
          </a:prstGeom>
        </p:spPr>
      </p:pic>
      <p:sp>
        <p:nvSpPr>
          <p:cNvPr id="22" name="Shape 1">
            <a:extLst>
              <a:ext uri="{FF2B5EF4-FFF2-40B4-BE49-F238E27FC236}">
                <a16:creationId xmlns:a16="http://schemas.microsoft.com/office/drawing/2014/main" id="{8B3789FB-4EC6-29BB-8AB4-B514BCE88A9C}"/>
              </a:ext>
            </a:extLst>
          </p:cNvPr>
          <p:cNvSpPr/>
          <p:nvPr/>
        </p:nvSpPr>
        <p:spPr>
          <a:xfrm>
            <a:off x="571500" y="26629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A5626A-1768-0BB6-2B3B-C29607998D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449" y="416814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4" y="1295705"/>
            <a:ext cx="10682936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Idea Description</a:t>
            </a:r>
            <a:endParaRPr lang="en-US" sz="2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133" r="-133"/>
          <a:stretch/>
        </p:blipFill>
        <p:spPr>
          <a:xfrm>
            <a:off x="1162202" y="2583180"/>
            <a:ext cx="171907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83941"/>
            <a:ext cx="9813341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AEFF82">
                    <a:alpha val="9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Provide a brief summary of your idea, including the key concept and approach. Provide a brief overview of your solution and how it addresses the problem statement.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961949" y="4060850"/>
            <a:ext cx="10267798" cy="895198"/>
          </a:xfrm>
          <a:prstGeom prst="roundRect">
            <a:avLst>
              <a:gd name="adj" fmla="val 8693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162202" y="4261104"/>
            <a:ext cx="19961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CONCEPT &amp; APPROACH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162202" y="4528109"/>
            <a:ext cx="7677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Locates the exact (x,y) coordinates of a 100x reference site inside a 10x search image via scale-aware, sub-pixel NCC matching.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961949" y="5108753"/>
            <a:ext cx="10267798" cy="895198"/>
          </a:xfrm>
          <a:prstGeom prst="roundRect">
            <a:avLst>
              <a:gd name="adj" fmla="val 8693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5"/>
          <p:cNvSpPr txBox="1"/>
          <p:nvPr/>
        </p:nvSpPr>
        <p:spPr>
          <a:xfrm>
            <a:off x="1162202" y="5309006"/>
            <a:ext cx="15480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OVERVIEW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1162202" y="5575097"/>
            <a:ext cx="8458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Multi-scale correlation with sub-pixel peak fitting and center-tie-breaking recovers navigation accuracy — 100% pass @5px in 38.4ms.</a:t>
            </a:r>
            <a:endParaRPr lang="en-US" sz="12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033FF08-6369-1C95-EB39-A51D568DF0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2164" y="228650"/>
            <a:ext cx="1607366" cy="783591"/>
          </a:xfrm>
          <a:prstGeom prst="rect">
            <a:avLst/>
          </a:prstGeom>
        </p:spPr>
      </p:pic>
      <p:sp>
        <p:nvSpPr>
          <p:cNvPr id="25" name="Shape 1">
            <a:extLst>
              <a:ext uri="{FF2B5EF4-FFF2-40B4-BE49-F238E27FC236}">
                <a16:creationId xmlns:a16="http://schemas.microsoft.com/office/drawing/2014/main" id="{82B7216B-04F1-E2CC-935F-9AA2CE5B9E43}"/>
              </a:ext>
            </a:extLst>
          </p:cNvPr>
          <p:cNvSpPr/>
          <p:nvPr/>
        </p:nvSpPr>
        <p:spPr>
          <a:xfrm>
            <a:off x="571500" y="209602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743FE56-9400-E309-F93C-96E3C8B4AF8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375" y="32938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48130" y="1295705"/>
            <a:ext cx="10296144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Proposed Solution 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1104595" y="2583180"/>
            <a:ext cx="286207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93085"/>
            <a:ext cx="10172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EFF82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Describe your idea in detail. Include the methodology, technologies involved, and how it addresses the chosen problem statement.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961949" y="4134002"/>
            <a:ext cx="10267798" cy="1276502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200607" y="4372661"/>
            <a:ext cx="13670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DETAILS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200607" y="4648810"/>
            <a:ext cx="899678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Two-stage pipeline: SEMDataGenerator synthesizes DRAM/FinFET wafer pairs with physical SEM noise (Poisson shot noise, astigmatic blur, charging streaks). DriftSenseLocalizer then applies multi-scale NCC with parabolic sub-pixel refinement and center-proximity tie-breaking for periodic arrays.</a:t>
            </a:r>
            <a:endParaRPr lang="en-US" sz="13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67D8EB9-0510-8E20-AE50-3B9EC87046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2164" y="227710"/>
            <a:ext cx="1607366" cy="783591"/>
          </a:xfrm>
          <a:prstGeom prst="rect">
            <a:avLst/>
          </a:prstGeom>
        </p:spPr>
      </p:pic>
      <p:sp>
        <p:nvSpPr>
          <p:cNvPr id="22" name="Shape 1">
            <a:extLst>
              <a:ext uri="{FF2B5EF4-FFF2-40B4-BE49-F238E27FC236}">
                <a16:creationId xmlns:a16="http://schemas.microsoft.com/office/drawing/2014/main" id="{50164B49-38DE-6195-0A8B-DC6EC6DA2457}"/>
              </a:ext>
            </a:extLst>
          </p:cNvPr>
          <p:cNvSpPr/>
          <p:nvPr/>
        </p:nvSpPr>
        <p:spPr>
          <a:xfrm>
            <a:off x="571500" y="142799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8A68BD0-3127-AC0B-80B4-CA2643B37A2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553" y="27666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4986223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Innovation and Uniqueness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133" r="-133"/>
          <a:stretch/>
        </p:blipFill>
        <p:spPr>
          <a:xfrm>
            <a:off x="1162202" y="2583180"/>
            <a:ext cx="171907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93085"/>
            <a:ext cx="98014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EFF82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Highlight what makes your idea unique or innovative compared to existing solutions.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961949" y="3845052"/>
            <a:ext cx="5020056" cy="1429207"/>
          </a:xfrm>
          <a:prstGeom prst="roundRect">
            <a:avLst>
              <a:gd name="adj" fmla="val 3412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200607" y="4082796"/>
            <a:ext cx="1271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INNOVATION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200607" y="4349801"/>
            <a:ext cx="442935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literature-grounded physics-based SEM data engine paired with a scale-aware sub-pixel localizer whose center-proximity tie-breaking resolves ambiguity in highly periodic DRAM/FinFET arrays.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210605" y="3845052"/>
            <a:ext cx="5020056" cy="1429207"/>
          </a:xfrm>
          <a:prstGeom prst="roundRect">
            <a:avLst>
              <a:gd name="adj" fmla="val 3412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5"/>
          <p:cNvSpPr txBox="1"/>
          <p:nvPr/>
        </p:nvSpPr>
        <p:spPr>
          <a:xfrm>
            <a:off x="6448349" y="4082796"/>
            <a:ext cx="1901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COMPETITIVE ADVANTAGE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6448349" y="4349801"/>
            <a:ext cx="423915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100% pass @5px/@4px (targets 90%/85%), 91.4% at ultra-precision 1px, and 38.4ms mean runtime — inside the 50ms real-time target. Achieved with a lightweight, GPU-free, CPU-only Python pipeline, easy to integrate into existing inspection tools.</a:t>
            </a:r>
            <a:endParaRPr lang="en-US" sz="12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8B85B4A-4413-5424-84AE-2AF429F27F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8322" y="228650"/>
            <a:ext cx="1607366" cy="783591"/>
          </a:xfrm>
          <a:prstGeom prst="rect">
            <a:avLst/>
          </a:prstGeom>
        </p:spPr>
      </p:pic>
      <p:sp>
        <p:nvSpPr>
          <p:cNvPr id="25" name="Shape 1">
            <a:extLst>
              <a:ext uri="{FF2B5EF4-FFF2-40B4-BE49-F238E27FC236}">
                <a16:creationId xmlns:a16="http://schemas.microsoft.com/office/drawing/2014/main" id="{BB3A3471-21A6-8A80-8399-32E98C63F186}"/>
              </a:ext>
            </a:extLst>
          </p:cNvPr>
          <p:cNvSpPr/>
          <p:nvPr/>
        </p:nvSpPr>
        <p:spPr>
          <a:xfrm>
            <a:off x="571500" y="258065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ADA517E-8996-A444-E540-A2F9B8F98D2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929" y="393700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3728923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Impact and Benefits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33856" y="2583180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93085"/>
            <a:ext cx="102394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EFF82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Explain how your solution will make an impact, such as improving </a:t>
            </a:r>
            <a:r>
              <a:rPr lang="en-US" dirty="0">
                <a:solidFill>
                  <a:srgbClr val="AEFF82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performance</a:t>
            </a:r>
            <a:r>
              <a:rPr lang="en-US" sz="1800" dirty="0">
                <a:solidFill>
                  <a:srgbClr val="AEFF82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reducing costs, increasing efficiency, or solving other challenges.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961949" y="4210812"/>
            <a:ext cx="5020056" cy="1200607"/>
          </a:xfrm>
          <a:prstGeom prst="roundRect">
            <a:avLst>
              <a:gd name="adj" fmla="val 4836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200607" y="4486961"/>
            <a:ext cx="152705" cy="15270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466698" y="4448556"/>
            <a:ext cx="13240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Primary Impact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1200607" y="4791456"/>
            <a:ext cx="414863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Eliminates costly manual re-alignment when inspection tools revisit a microscopic site across dies, recovering navigation accuracy in real time and improving the reliability of downstream yield analysis on the production line.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6210605" y="4210812"/>
            <a:ext cx="5020056" cy="1200607"/>
          </a:xfrm>
          <a:prstGeom prst="roundRect">
            <a:avLst>
              <a:gd name="adj" fmla="val 4836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rcRect l="-33" r="-33"/>
          <a:stretch/>
        </p:blipFill>
        <p:spPr>
          <a:xfrm>
            <a:off x="6448349" y="4486961"/>
            <a:ext cx="171907" cy="152705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6734556" y="4448556"/>
            <a:ext cx="19248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Quantifiable Outcomes</a:t>
            </a:r>
            <a:endParaRPr lang="en-US" sz="1200" dirty="0"/>
          </a:p>
        </p:txBody>
      </p:sp>
      <p:sp>
        <p:nvSpPr>
          <p:cNvPr id="24" name="Text 16"/>
          <p:cNvSpPr txBox="1"/>
          <p:nvPr/>
        </p:nvSpPr>
        <p:spPr>
          <a:xfrm>
            <a:off x="6448349" y="4791456"/>
            <a:ext cx="398678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100% pass @5px &amp; @4px, 97.1% @2px, 91.4% @1px; mean error 0.42px, median 0.28px; 38.4ms mean runtime per pair (target &lt;50ms).</a:t>
            </a:r>
            <a:endParaRPr lang="en-US" sz="1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2A87E08-9934-FBF2-2F29-11A8271B362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06922" y="227710"/>
            <a:ext cx="1607366" cy="783591"/>
          </a:xfrm>
          <a:prstGeom prst="rect">
            <a:avLst/>
          </a:prstGeom>
        </p:spPr>
      </p:pic>
      <p:sp>
        <p:nvSpPr>
          <p:cNvPr id="27" name="Shape 1">
            <a:extLst>
              <a:ext uri="{FF2B5EF4-FFF2-40B4-BE49-F238E27FC236}">
                <a16:creationId xmlns:a16="http://schemas.microsoft.com/office/drawing/2014/main" id="{850BA2BE-D607-619F-6960-A71277019D3B}"/>
              </a:ext>
            </a:extLst>
          </p:cNvPr>
          <p:cNvSpPr/>
          <p:nvPr/>
        </p:nvSpPr>
        <p:spPr>
          <a:xfrm>
            <a:off x="571500" y="209602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5D3E59C-FE74-F0BE-9B10-98C8003398B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859" y="32938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238098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00607"/>
            <a:ext cx="782452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Technology &amp; Feasibility/Methodology Used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1879092"/>
            <a:ext cx="11048695" cy="4695444"/>
          </a:xfrm>
          <a:prstGeom prst="roundRect">
            <a:avLst>
              <a:gd name="adj" fmla="val 63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1879092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1879092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269541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33856" y="2440534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62049" y="2287829"/>
            <a:ext cx="93442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EFF82">
                    <a:alpha val="9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Describe the technologies, methodologies, or tools you plan to use to implement your idea.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1762049" y="3238805"/>
            <a:ext cx="9467698" cy="1276502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2000707" y="3477463"/>
            <a:ext cx="20336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IMPLEMENTATION STRATEGY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2000707" y="3753612"/>
            <a:ext cx="8748979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Pure Python 3.9+ pipeline, config-driven via one JSON file. Modular package (sem_generator.py, localizer.py, optical_extension.py) with CLI entry points for dataset generation and benchmark evaluation. Validated on 35 DRAM/FinFET pairs at 38.4ms mean runtime, no GPU required.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961949" y="5252314"/>
            <a:ext cx="3295498" cy="933602"/>
          </a:xfrm>
          <a:prstGeom prst="roundRect">
            <a:avLst>
              <a:gd name="adj" fmla="val 7995"/>
            </a:avLst>
          </a:prstGeom>
          <a:solidFill>
            <a:srgbClr val="273383">
              <a:alpha val="4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 t="-45" b="-45"/>
          <a:stretch/>
        </p:blipFill>
        <p:spPr>
          <a:xfrm>
            <a:off x="2481682" y="5451653"/>
            <a:ext cx="256946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861718" y="5823814"/>
            <a:ext cx="1608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Software Architecture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4448556" y="5252314"/>
            <a:ext cx="3295498" cy="933602"/>
          </a:xfrm>
          <a:prstGeom prst="roundRect">
            <a:avLst>
              <a:gd name="adj" fmla="val 7995"/>
            </a:avLst>
          </a:prstGeom>
          <a:solidFill>
            <a:srgbClr val="273383">
              <a:alpha val="4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982005" y="5451653"/>
            <a:ext cx="228600" cy="22860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287061" y="5823814"/>
            <a:ext cx="17227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Hardware Components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7934249" y="5252314"/>
            <a:ext cx="3295498" cy="933602"/>
          </a:xfrm>
          <a:prstGeom prst="roundRect">
            <a:avLst>
              <a:gd name="adj" fmla="val 7995"/>
            </a:avLst>
          </a:prstGeom>
          <a:solidFill>
            <a:srgbClr val="273383">
              <a:alpha val="4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467698" y="5451653"/>
            <a:ext cx="228600" cy="22860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8919058" y="5823814"/>
            <a:ext cx="14365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Development Tools</a:t>
            </a:r>
            <a:endParaRPr lang="en-US" sz="10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A9CA506-8684-B4DC-6650-2E5F61A7B03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44743" y="228600"/>
            <a:ext cx="1607366" cy="783591"/>
          </a:xfrm>
          <a:prstGeom prst="rect">
            <a:avLst/>
          </a:prstGeom>
        </p:spPr>
      </p:pic>
      <p:sp>
        <p:nvSpPr>
          <p:cNvPr id="31" name="Shape 1">
            <a:extLst>
              <a:ext uri="{FF2B5EF4-FFF2-40B4-BE49-F238E27FC236}">
                <a16:creationId xmlns:a16="http://schemas.microsoft.com/office/drawing/2014/main" id="{10B6379C-1BCE-6784-4600-934501FC5F97}"/>
              </a:ext>
            </a:extLst>
          </p:cNvPr>
          <p:cNvSpPr/>
          <p:nvPr/>
        </p:nvSpPr>
        <p:spPr>
          <a:xfrm>
            <a:off x="571500" y="240793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D18A824-BCDE-0A33-4245-E3C168F9E6D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101" y="378206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360456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 &amp; Video Link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1190549" y="2696566"/>
            <a:ext cx="9810598" cy="1447495"/>
          </a:xfrm>
          <a:prstGeom prst="roundRect">
            <a:avLst>
              <a:gd name="adj" fmla="val 4987"/>
            </a:avLst>
          </a:prstGeom>
          <a:noFill/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1429207" y="3087014"/>
            <a:ext cx="666598" cy="666598"/>
          </a:xfrm>
          <a:prstGeom prst="ellipse">
            <a:avLst/>
          </a:prstGeom>
          <a:solidFill>
            <a:srgbClr val="273383">
              <a:alpha val="60000"/>
            </a:srgbClr>
          </a:solidFill>
          <a:ln w="25400">
            <a:solidFill>
              <a:srgbClr val="AEFF82"/>
            </a:solidFill>
            <a:prstDash val="solid"/>
          </a:ln>
          <a:effectLst>
            <a:outerShdw blurRad="139700" dist="12700" dir="16200000" algn="bl" rotWithShape="0">
              <a:srgbClr val="88E555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 l="-237" r="-237"/>
          <a:stretch/>
        </p:blipFill>
        <p:spPr>
          <a:xfrm>
            <a:off x="1595628" y="3248863"/>
            <a:ext cx="333756" cy="3429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2400300" y="2934310"/>
            <a:ext cx="20007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 Repository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2400300" y="3315614"/>
            <a:ext cx="8363102" cy="590702"/>
          </a:xfrm>
          <a:prstGeom prst="roundRect">
            <a:avLst>
              <a:gd name="adj" fmla="val 1997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 t="-180" b="-180"/>
          <a:stretch/>
        </p:blipFill>
        <p:spPr>
          <a:xfrm>
            <a:off x="2562149" y="3535070"/>
            <a:ext cx="190195" cy="15270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2914193" y="3460090"/>
            <a:ext cx="6133554" cy="285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https://github.com/nivyamathew05/Drift-Sense-Wafer-Inspection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1190549" y="4449470"/>
            <a:ext cx="9810598" cy="1447495"/>
          </a:xfrm>
          <a:prstGeom prst="roundRect">
            <a:avLst>
              <a:gd name="adj" fmla="val 4987"/>
            </a:avLst>
          </a:prstGeom>
          <a:noFill/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5"/>
          <p:cNvSpPr/>
          <p:nvPr/>
        </p:nvSpPr>
        <p:spPr>
          <a:xfrm>
            <a:off x="1429207" y="4839919"/>
            <a:ext cx="666598" cy="666598"/>
          </a:xfrm>
          <a:prstGeom prst="ellipse">
            <a:avLst/>
          </a:prstGeom>
          <a:solidFill>
            <a:srgbClr val="273383">
              <a:alpha val="60000"/>
            </a:srgbClr>
          </a:solidFill>
          <a:ln w="25400">
            <a:solidFill>
              <a:srgbClr val="AEFF82"/>
            </a:solidFill>
            <a:prstDash val="solid"/>
          </a:ln>
          <a:effectLst>
            <a:outerShdw blurRad="139700" dist="12700" dir="16200000" algn="bl" rotWithShape="0">
              <a:srgbClr val="88E555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rcRect l="-607" r="-607"/>
          <a:stretch/>
        </p:blipFill>
        <p:spPr>
          <a:xfrm>
            <a:off x="1567282" y="5001768"/>
            <a:ext cx="390449" cy="34290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2400300" y="4687214"/>
            <a:ext cx="30861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Prototype / Simulation Video</a:t>
            </a:r>
            <a:endParaRPr lang="en-US" sz="1500" dirty="0"/>
          </a:p>
        </p:txBody>
      </p:sp>
      <p:sp>
        <p:nvSpPr>
          <p:cNvPr id="25" name="Shape 17"/>
          <p:cNvSpPr/>
          <p:nvPr/>
        </p:nvSpPr>
        <p:spPr>
          <a:xfrm>
            <a:off x="2400300" y="5068519"/>
            <a:ext cx="8363102" cy="590702"/>
          </a:xfrm>
          <a:prstGeom prst="roundRect">
            <a:avLst>
              <a:gd name="adj" fmla="val 1997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rcRect l="-33" r="-33"/>
          <a:stretch/>
        </p:blipFill>
        <p:spPr>
          <a:xfrm>
            <a:off x="2562149" y="5287061"/>
            <a:ext cx="190195" cy="16895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2914192" y="5259628"/>
            <a:ext cx="6877507" cy="198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chemeClr val="bg1"/>
                </a:solidFill>
              </a:rPr>
              <a:t>https://drive.google.com/file/d/1GPExUj-L78JLCM8_8DE_8dMWTwOlIHKs/view?usp=sharing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AC5205F-3589-4B54-7039-C1C70523478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92164" y="227710"/>
            <a:ext cx="1607366" cy="783591"/>
          </a:xfrm>
          <a:prstGeom prst="rect">
            <a:avLst/>
          </a:prstGeom>
        </p:spPr>
      </p:pic>
      <p:sp>
        <p:nvSpPr>
          <p:cNvPr id="30" name="Shape 1">
            <a:extLst>
              <a:ext uri="{FF2B5EF4-FFF2-40B4-BE49-F238E27FC236}">
                <a16:creationId xmlns:a16="http://schemas.microsoft.com/office/drawing/2014/main" id="{89A93441-4E5C-0FCA-6BDD-16AB2E1B711C}"/>
              </a:ext>
            </a:extLst>
          </p:cNvPr>
          <p:cNvSpPr/>
          <p:nvPr/>
        </p:nvSpPr>
        <p:spPr>
          <a:xfrm>
            <a:off x="571500" y="16794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3E0C32B-9271-FA34-86BB-7D95EB5AB34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101" y="297181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190549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152144"/>
            <a:ext cx="462412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Research and References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1830629"/>
            <a:ext cx="11048695" cy="4743907"/>
          </a:xfrm>
          <a:prstGeom prst="roundRect">
            <a:avLst>
              <a:gd name="adj" fmla="val 61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1830629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1830629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173529"/>
            <a:ext cx="476402" cy="476402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86307" y="2297887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628546" y="2173529"/>
            <a:ext cx="3810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Research Background &amp; Methodology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1628546" y="2516429"/>
            <a:ext cx="57012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1628546" y="2783434"/>
            <a:ext cx="9601200" cy="1067105"/>
          </a:xfrm>
          <a:prstGeom prst="roundRect">
            <a:avLst>
              <a:gd name="adj" fmla="val 6121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3"/>
          <p:cNvSpPr txBox="1"/>
          <p:nvPr/>
        </p:nvSpPr>
        <p:spPr>
          <a:xfrm>
            <a:off x="1790395" y="2869388"/>
            <a:ext cx="9439351" cy="557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Synthetic data and degradation physics are grounded in published DRAM/FinFET lithography and SEM literature — Poisson shot noise, astigmatic lens blur, and dielectric charging-streak models — for physically realistic benchmarking.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961949" y="4155034"/>
            <a:ext cx="476402" cy="476402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 l="-80" r="-80"/>
          <a:stretch/>
        </p:blipFill>
        <p:spPr>
          <a:xfrm>
            <a:off x="1057046" y="4279392"/>
            <a:ext cx="286207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628546" y="4155034"/>
            <a:ext cx="23436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References &amp; Citations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1628546" y="4497934"/>
            <a:ext cx="27678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1628546" y="4764938"/>
            <a:ext cx="9601200" cy="1410005"/>
          </a:xfrm>
          <a:prstGeom prst="roundRect">
            <a:avLst>
              <a:gd name="adj" fmla="val 3505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18"/>
          <p:cNvSpPr/>
          <p:nvPr/>
        </p:nvSpPr>
        <p:spPr>
          <a:xfrm>
            <a:off x="1790395" y="5232197"/>
            <a:ext cx="9277502" cy="9144"/>
          </a:xfrm>
          <a:prstGeom prst="rect">
            <a:avLst/>
          </a:prstGeom>
          <a:solidFill>
            <a:srgbClr val="1E40AF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19"/>
          <p:cNvSpPr txBox="1"/>
          <p:nvPr/>
        </p:nvSpPr>
        <p:spPr>
          <a:xfrm>
            <a:off x="1790395" y="4812488"/>
            <a:ext cx="4802910" cy="342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Kim et al. (2020), IEEE Trans. Electron Devices 67(4), 1432-1440.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1790395" y="5661050"/>
            <a:ext cx="9277502" cy="9144"/>
          </a:xfrm>
          <a:prstGeom prst="rect">
            <a:avLst/>
          </a:prstGeom>
          <a:solidFill>
            <a:srgbClr val="1E40AF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1"/>
          <p:cNvSpPr txBox="1"/>
          <p:nvPr/>
        </p:nvSpPr>
        <p:spPr>
          <a:xfrm>
            <a:off x="1790395" y="5287952"/>
            <a:ext cx="32580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Auth et al. (2012), IEEE IEDM, pp. 25.1.1-25.1.4.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790395" y="5705856"/>
            <a:ext cx="488953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Reimer (1998); Cazaux (1999), J. Appl. Phys. 85(2), 1137-1147.</a:t>
            </a:r>
            <a:endParaRPr lang="en-US" sz="12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35E3709-F1C8-6E84-EA51-720EFCF71B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2164" y="227710"/>
            <a:ext cx="1607366" cy="783591"/>
          </a:xfrm>
          <a:prstGeom prst="rect">
            <a:avLst/>
          </a:prstGeom>
        </p:spPr>
      </p:pic>
      <p:sp>
        <p:nvSpPr>
          <p:cNvPr id="32" name="Shape 1">
            <a:extLst>
              <a:ext uri="{FF2B5EF4-FFF2-40B4-BE49-F238E27FC236}">
                <a16:creationId xmlns:a16="http://schemas.microsoft.com/office/drawing/2014/main" id="{3E27E131-AC1D-E75C-0267-02565ACC1BC3}"/>
              </a:ext>
            </a:extLst>
          </p:cNvPr>
          <p:cNvSpPr/>
          <p:nvPr/>
        </p:nvSpPr>
        <p:spPr>
          <a:xfrm>
            <a:off x="571500" y="25971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D876DBE-D402-1B41-B952-69F6F5BF98C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101" y="390016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714</Words>
  <Application>Microsoft Office PowerPoint</Application>
  <PresentationFormat>Widescreen</PresentationFormat>
  <Paragraphs>90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nivya mathew</cp:lastModifiedBy>
  <cp:revision>8</cp:revision>
  <dcterms:created xsi:type="dcterms:W3CDTF">2026-01-15T05:38:47Z</dcterms:created>
  <dcterms:modified xsi:type="dcterms:W3CDTF">2026-08-16T13:11:21Z</dcterms:modified>
</cp:coreProperties>
</file>